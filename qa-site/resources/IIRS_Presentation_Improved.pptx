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57" r:id="rId4"/>
    <p:sldId id="258" r:id="rId5"/>
    <p:sldId id="261" r:id="rId6"/>
    <p:sldId id="259" r:id="rId7"/>
    <p:sldId id="266" r:id="rId8"/>
    <p:sldId id="260" r:id="rId9"/>
    <p:sldId id="262" r:id="rId10"/>
    <p:sldId id="263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273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DAA8-CB49-04A3-9AC1-0FC78D9A6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04526-3208-3769-D850-7518E50C4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809AF-E917-D00F-3C05-A469EA8E3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A466E-B3E0-7ED5-5116-138EEE4F64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43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jpeg"/><Relationship Id="rId6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3.jpeg"/><Relationship Id="rId6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Intelligent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Incident Response System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E86B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IIRS — Automated Observability &amp; Root Cause Analysis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8046720" cy="0"/>
          </a:xfrm>
          <a:prstGeom prst="line">
            <a:avLst/>
          </a:prstGeom>
          <a:noFill/>
          <a:ln w="19050">
            <a:solidFill>
              <a:srgbClr val="E86B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587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Project Presentation</a:t>
            </a:r>
            <a:endParaRPr lang="en-US" sz="1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F9CC100-8D95-6E1A-E7FC-F1FC5438B4F8}"/>
              </a:ext>
            </a:extLst>
          </p:cNvPr>
          <p:cNvSpPr/>
          <p:nvPr/>
        </p:nvSpPr>
        <p:spPr>
          <a:xfrm>
            <a:off x="457200" y="347481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E86B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10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60120" y="914400"/>
            <a:ext cx="914400" cy="914400"/>
          </a:xfrm>
          <a:prstGeom prst="ellipse">
            <a:avLst/>
          </a:prstGeom>
          <a:solidFill>
            <a:srgbClr val="E86B2C"/>
          </a:solidFill>
          <a:ln w="19050">
            <a:solidFill>
              <a:srgbClr val="E86B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883664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Gaurav Yadav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914400"/>
            <a:ext cx="914400" cy="914400"/>
          </a:xfrm>
          <a:prstGeom prst="ellipse">
            <a:avLst/>
          </a:prstGeom>
          <a:solidFill>
            <a:srgbClr val="E86B2C"/>
          </a:solidFill>
          <a:ln w="19050">
            <a:solidFill>
              <a:srgbClr val="E86B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883664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Vamsi Krishna Akavarapu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66360" y="914400"/>
            <a:ext cx="914400" cy="914400"/>
          </a:xfrm>
          <a:prstGeom prst="ellipse">
            <a:avLst/>
          </a:prstGeom>
          <a:solidFill>
            <a:srgbClr val="E86B2C"/>
          </a:solidFill>
          <a:ln w="19050">
            <a:solidFill>
              <a:srgbClr val="E86B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883664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Rashmi KR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69480" y="914400"/>
            <a:ext cx="914400" cy="914400"/>
          </a:xfrm>
          <a:prstGeom prst="ellipse">
            <a:avLst/>
          </a:prstGeom>
          <a:solidFill>
            <a:srgbClr val="E86B2C"/>
          </a:solidFill>
          <a:ln w="19050">
            <a:solidFill>
              <a:srgbClr val="E86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1883664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Avinash Kandimalla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2926080"/>
            <a:ext cx="914400" cy="914400"/>
          </a:xfrm>
          <a:prstGeom prst="ellipse">
            <a:avLst/>
          </a:prstGeom>
          <a:solidFill>
            <a:srgbClr val="C45A1B"/>
          </a:solidFill>
          <a:ln w="19050">
            <a:solidFill>
              <a:srgbClr val="E86B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2926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895344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Dinesh Halaharvi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2926080"/>
            <a:ext cx="914400" cy="914400"/>
          </a:xfrm>
          <a:prstGeom prst="ellipse">
            <a:avLst/>
          </a:prstGeom>
          <a:solidFill>
            <a:srgbClr val="C45A1B"/>
          </a:solidFill>
          <a:ln w="19050">
            <a:solidFill>
              <a:srgbClr val="E86B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926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520440" y="3895344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Krishna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926080"/>
            <a:ext cx="914400" cy="914400"/>
          </a:xfrm>
          <a:prstGeom prst="ellipse">
            <a:avLst/>
          </a:prstGeom>
          <a:solidFill>
            <a:srgbClr val="C45A1B"/>
          </a:solidFill>
          <a:ln w="19050">
            <a:solidFill>
              <a:srgbClr val="E86B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926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23560" y="3895344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Pavan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Indian Institute of Remote Sensing (IIRS) — Project Team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" cy="502920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50976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877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in modern incident response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502920" cy="502920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38528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7260" y="20096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1338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Multi-agent design &amp; data 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89504"/>
            <a:ext cx="502920" cy="502920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26080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9229" y="858105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9229" y="11155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Tools, frameworks, and integrations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877056"/>
            <a:ext cx="502920" cy="502920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13632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7260" y="385162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Workflow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131373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End-to-end process walkthrough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502920" cy="502920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950976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19505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cs typeface="Times New Roman" pitchFamily="34" charset="-120"/>
              </a:rPr>
              <a:t>Results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22128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demo outputs — Case 1 &amp; 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901952"/>
            <a:ext cx="502920" cy="502920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938528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9504"/>
            <a:ext cx="502920" cy="502920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926080"/>
            <a:ext cx="502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49240" y="28529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31638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 and future scope</a:t>
            </a:r>
            <a:endParaRPr lang="en-US" sz="10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073BE97-AFD9-E4F5-3178-FF367F89F27A}"/>
              </a:ext>
            </a:extLst>
          </p:cNvPr>
          <p:cNvSpPr/>
          <p:nvPr/>
        </p:nvSpPr>
        <p:spPr>
          <a:xfrm>
            <a:off x="960120" y="28529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B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35024"/>
            <a:ext cx="256032" cy="256032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35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261872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distributed applications generate overwhelming volumes of logs &amp; telemetry data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139696"/>
            <a:ext cx="256032" cy="256032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39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206654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analysis is time-consuming and error-prone — especially for L1 on-call engineers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944368"/>
            <a:ext cx="256032" cy="256032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44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2871216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Correlating alerts with logs, metrics, and traces requires fragmented tool-hopping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256032" cy="256032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49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3675888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Delayed triage leads to longer downtime and higher risk of incorrect actions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804672"/>
            <a:ext cx="4023360" cy="4114800"/>
          </a:xfrm>
          <a:prstGeom prst="rect">
            <a:avLst/>
          </a:prstGeom>
          <a:solidFill>
            <a:srgbClr val="FDE9D9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5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IIRS Provides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37760" y="1417320"/>
            <a:ext cx="3566160" cy="0"/>
          </a:xfrm>
          <a:prstGeom prst="line">
            <a:avLst/>
          </a:prstGeom>
          <a:noFill/>
          <a:ln w="6350">
            <a:solidFill>
              <a:srgbClr val="E86B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4721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Evidence-grounded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17647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claim traceable to telemetry/knowledge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240280"/>
            <a:ext cx="3566160" cy="0"/>
          </a:xfrm>
          <a:prstGeom prst="line">
            <a:avLst/>
          </a:prstGeom>
          <a:noFill/>
          <a:ln w="6350">
            <a:solidFill>
              <a:srgbClr val="E86B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2951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5877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Reasoning traces + tool calls logged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063240"/>
            <a:ext cx="3566160" cy="0"/>
          </a:xfrm>
          <a:prstGeom prst="line">
            <a:avLst/>
          </a:prstGeom>
          <a:noFill/>
          <a:ln w="6350">
            <a:solidFill>
              <a:srgbClr val="E86B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1181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 by design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4107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Read-only diagnostics by default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886200"/>
            <a:ext cx="3566160" cy="0"/>
          </a:xfrm>
          <a:prstGeom prst="line">
            <a:avLst/>
          </a:prstGeom>
          <a:noFill/>
          <a:ln w="6350">
            <a:solidFill>
              <a:srgbClr val="E86B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9410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42336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Approvals required for impactful actions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384048" cy="384048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59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7784" y="1243584"/>
            <a:ext cx="0" cy="164592"/>
          </a:xfrm>
          <a:prstGeom prst="line">
            <a:avLst/>
          </a:prstGeom>
          <a:noFill/>
          <a:ln w="12700">
            <a:solidFill>
              <a:srgbClr val="E86B2C"/>
            </a:solidFill>
            <a:prstDash val="dot"/>
          </a:ln>
        </p:spPr>
      </p:sp>
      <p:sp>
        <p:nvSpPr>
          <p:cNvPr id="7" name="Text 5"/>
          <p:cNvSpPr/>
          <p:nvPr/>
        </p:nvSpPr>
        <p:spPr>
          <a:xfrm>
            <a:off x="914400" y="82296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IN" sz="1250" dirty="0">
                <a:solidFill>
                  <a:srgbClr val="1A1A1A"/>
                </a:solidFill>
                <a:latin typeface="Times New Roman" pitchFamily="34" charset="0"/>
                <a:cs typeface="Times New Roman" pitchFamily="34" charset="-120"/>
              </a:rPr>
              <a:t>Collect telemetry data from applications.</a:t>
            </a:r>
          </a:p>
        </p:txBody>
      </p:sp>
      <p:sp>
        <p:nvSpPr>
          <p:cNvPr id="8" name="Shape 6"/>
          <p:cNvSpPr/>
          <p:nvPr/>
        </p:nvSpPr>
        <p:spPr>
          <a:xfrm>
            <a:off x="365760" y="1399032"/>
            <a:ext cx="384048" cy="384048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99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" y="1783080"/>
            <a:ext cx="0" cy="164592"/>
          </a:xfrm>
          <a:prstGeom prst="line">
            <a:avLst/>
          </a:prstGeom>
          <a:noFill/>
          <a:ln w="12700">
            <a:solidFill>
              <a:srgbClr val="E86B2C"/>
            </a:solidFill>
            <a:prstDash val="dot"/>
          </a:ln>
        </p:spPr>
      </p:sp>
      <p:sp>
        <p:nvSpPr>
          <p:cNvPr id="11" name="Text 9"/>
          <p:cNvSpPr/>
          <p:nvPr/>
        </p:nvSpPr>
        <p:spPr>
          <a:xfrm>
            <a:off x="914400" y="1362456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IN" sz="1250" dirty="0">
                <a:solidFill>
                  <a:srgbClr val="1A1A1A"/>
                </a:solidFill>
                <a:latin typeface="Times New Roman" pitchFamily="34" charset="0"/>
                <a:cs typeface="Times New Roman" pitchFamily="34" charset="-120"/>
              </a:rPr>
              <a:t>Store logs, metrics, and traces in centralized systems.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1938528"/>
            <a:ext cx="384048" cy="384048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38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" y="2322576"/>
            <a:ext cx="0" cy="164592"/>
          </a:xfrm>
          <a:prstGeom prst="line">
            <a:avLst/>
          </a:prstGeom>
          <a:noFill/>
          <a:ln w="12700">
            <a:solidFill>
              <a:srgbClr val="E86B2C"/>
            </a:solidFill>
            <a:prstDash val="dot"/>
          </a:ln>
        </p:spPr>
      </p:sp>
      <p:sp>
        <p:nvSpPr>
          <p:cNvPr id="15" name="Text 13"/>
          <p:cNvSpPr/>
          <p:nvPr/>
        </p:nvSpPr>
        <p:spPr>
          <a:xfrm>
            <a:off x="914400" y="190195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50" dirty="0">
                <a:solidFill>
                  <a:srgbClr val="1A1A1A"/>
                </a:solidFill>
                <a:latin typeface="Times New Roman" pitchFamily="34" charset="0"/>
                <a:cs typeface="Times New Roman" pitchFamily="34" charset="-120"/>
              </a:rPr>
              <a:t>Analyse logs using AI models.</a:t>
            </a:r>
            <a:endParaRPr lang="en-US" sz="1250" dirty="0">
              <a:solidFill>
                <a:srgbClr val="1A1A1A"/>
              </a:solidFill>
              <a:latin typeface="Times New Roman" pitchFamily="34" charset="0"/>
              <a:cs typeface="Times New Roman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2478024"/>
            <a:ext cx="384048" cy="384048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78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" y="2862072"/>
            <a:ext cx="0" cy="164592"/>
          </a:xfrm>
          <a:prstGeom prst="line">
            <a:avLst/>
          </a:prstGeom>
          <a:noFill/>
          <a:ln w="12700">
            <a:solidFill>
              <a:srgbClr val="E86B2C"/>
            </a:solidFill>
            <a:prstDash val="dot"/>
          </a:ln>
        </p:spPr>
      </p:sp>
      <p:sp>
        <p:nvSpPr>
          <p:cNvPr id="19" name="Text 17"/>
          <p:cNvSpPr/>
          <p:nvPr/>
        </p:nvSpPr>
        <p:spPr>
          <a:xfrm>
            <a:off x="914400" y="244144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IN" sz="1250" dirty="0">
                <a:solidFill>
                  <a:srgbClr val="1A1A1A"/>
                </a:solidFill>
                <a:latin typeface="Times New Roman" pitchFamily="34" charset="0"/>
                <a:cs typeface="Times New Roman" pitchFamily="34" charset="-120"/>
              </a:rPr>
              <a:t>Identify root causes of failures.</a:t>
            </a:r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384048" cy="384048"/>
          </a:xfrm>
          <a:prstGeom prst="ellipse">
            <a:avLst/>
          </a:prstGeom>
          <a:solidFill>
            <a:srgbClr val="C45A1B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" y="3401568"/>
            <a:ext cx="0" cy="164592"/>
          </a:xfrm>
          <a:prstGeom prst="line">
            <a:avLst/>
          </a:prstGeom>
          <a:noFill/>
          <a:ln w="12700">
            <a:solidFill>
              <a:srgbClr val="E86B2C"/>
            </a:solidFill>
            <a:prstDash val="dot"/>
          </a:ln>
        </p:spPr>
      </p:sp>
      <p:sp>
        <p:nvSpPr>
          <p:cNvPr id="23" name="Text 21"/>
          <p:cNvSpPr/>
          <p:nvPr/>
        </p:nvSpPr>
        <p:spPr>
          <a:xfrm>
            <a:off x="914400" y="2980944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IN" sz="1250" dirty="0">
                <a:solidFill>
                  <a:srgbClr val="1A1A1A"/>
                </a:solidFill>
                <a:latin typeface="Times New Roman" pitchFamily="34" charset="0"/>
                <a:cs typeface="Times New Roman" pitchFamily="34" charset="-120"/>
              </a:rPr>
              <a:t>Provide suggested solutions for detected issues.</a:t>
            </a:r>
          </a:p>
        </p:txBody>
      </p:sp>
      <p:sp>
        <p:nvSpPr>
          <p:cNvPr id="24" name="Shape 22"/>
          <p:cNvSpPr/>
          <p:nvPr/>
        </p:nvSpPr>
        <p:spPr>
          <a:xfrm>
            <a:off x="365760" y="3557016"/>
            <a:ext cx="384048" cy="384048"/>
          </a:xfrm>
          <a:prstGeom prst="ellipse">
            <a:avLst/>
          </a:prstGeom>
          <a:solidFill>
            <a:srgbClr val="C45A1B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57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52044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IN" sz="1250" dirty="0">
                <a:solidFill>
                  <a:srgbClr val="1A1A1A"/>
                </a:solidFill>
                <a:latin typeface="Times New Roman" pitchFamily="34" charset="0"/>
                <a:cs typeface="Times New Roman" pitchFamily="34" charset="-120"/>
              </a:rPr>
              <a:t>Visualize monitoring data through dashboards.</a:t>
            </a:r>
          </a:p>
        </p:txBody>
      </p:sp>
      <p:sp>
        <p:nvSpPr>
          <p:cNvPr id="33" name="Text 31"/>
          <p:cNvSpPr/>
          <p:nvPr/>
        </p:nvSpPr>
        <p:spPr>
          <a:xfrm>
            <a:off x="365760" y="4636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B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73152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950976"/>
            <a:ext cx="1280160" cy="274320"/>
          </a:xfrm>
          <a:prstGeom prst="rect">
            <a:avLst/>
          </a:prstGeom>
          <a:solidFill>
            <a:srgbClr val="FDE9D9"/>
          </a:solidFill>
          <a:ln w="6350">
            <a:solidFill>
              <a:srgbClr val="E86B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9509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45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Collection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84632" y="95097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Retriever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132588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Gathers logs, metrics &amp; traces from Loki, Prometheus &amp; Tempo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822960"/>
            <a:ext cx="4114800" cy="1920240"/>
          </a:xfrm>
          <a:prstGeom prst="rect">
            <a:avLst/>
          </a:prstGeom>
          <a:solidFill>
            <a:srgbClr val="FFF8F3"/>
          </a:solidFill>
          <a:ln w="15240">
            <a:solidFill>
              <a:srgbClr val="E86B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822960"/>
            <a:ext cx="4114800" cy="73152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950976"/>
            <a:ext cx="1280160" cy="274320"/>
          </a:xfrm>
          <a:prstGeom prst="rect">
            <a:avLst/>
          </a:prstGeom>
          <a:solidFill>
            <a:srgbClr val="FDE9D9"/>
          </a:solidFill>
          <a:ln w="6350">
            <a:solidFill>
              <a:srgbClr val="E86B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9509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45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 Cause Analysis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965192" y="95097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Analyst 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5192" y="132588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Uses LLMs to analyze patterns &amp; generate root cause explanations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114800" cy="1920240"/>
          </a:xfrm>
          <a:prstGeom prst="rect">
            <a:avLst/>
          </a:prstGeom>
          <a:solidFill>
            <a:srgbClr val="FFF8F3"/>
          </a:solidFill>
          <a:ln w="15240">
            <a:solidFill>
              <a:srgbClr val="E86B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26080"/>
            <a:ext cx="4114800" cy="73152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3054096"/>
            <a:ext cx="1280160" cy="274320"/>
          </a:xfrm>
          <a:prstGeom prst="rect">
            <a:avLst/>
          </a:prstGeom>
          <a:solidFill>
            <a:srgbClr val="FDE9D9"/>
          </a:solidFill>
          <a:ln w="6350">
            <a:solidFill>
              <a:srgbClr val="E86B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30540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45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&amp; Safety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4632" y="305409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 Agent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" y="342900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Validates conclusions, checks evidence quality &amp; flags gaps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926080"/>
            <a:ext cx="411480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B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926080"/>
            <a:ext cx="4114800" cy="73152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3054096"/>
            <a:ext cx="1280160" cy="274320"/>
          </a:xfrm>
          <a:prstGeom prst="rect">
            <a:avLst/>
          </a:prstGeom>
          <a:solidFill>
            <a:srgbClr val="FDE9D9"/>
          </a:solidFill>
          <a:ln w="6350">
            <a:solidFill>
              <a:srgbClr val="E86B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30540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45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Triage &amp; Planning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965192" y="305409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Planner Agent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65192" y="342900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Generates structured triage plan &amp; executes read-only actions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1783080"/>
            <a:ext cx="365760" cy="0"/>
          </a:xfrm>
          <a:prstGeom prst="line">
            <a:avLst/>
          </a:prstGeom>
          <a:noFill/>
          <a:ln w="25400">
            <a:solidFill>
              <a:srgbClr val="E86B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4441612" y="2668702"/>
            <a:ext cx="365745" cy="348818"/>
          </a:xfrm>
          <a:prstGeom prst="line">
            <a:avLst/>
          </a:prstGeom>
          <a:noFill/>
          <a:ln w="25400">
            <a:solidFill>
              <a:srgbClr val="E86B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41612" y="3955627"/>
            <a:ext cx="352216" cy="0"/>
          </a:xfrm>
          <a:prstGeom prst="line">
            <a:avLst/>
          </a:prstGeom>
          <a:noFill/>
          <a:ln w="25400">
            <a:solidFill>
              <a:srgbClr val="E86B2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0FB58-1D9A-BA89-BBAF-B3D78B844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2D6D61-81CB-53DE-AEBA-CB2F4A9BD89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0A59C8-A262-A007-31AD-197C0CDB98D6}"/>
              </a:ext>
            </a:extLst>
          </p:cNvPr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Workflow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21C1078-97D1-250E-ED1C-8B3523C5BC2D}"/>
              </a:ext>
            </a:extLst>
          </p:cNvPr>
          <p:cNvSpPr/>
          <p:nvPr/>
        </p:nvSpPr>
        <p:spPr>
          <a:xfrm>
            <a:off x="365760" y="859536"/>
            <a:ext cx="384048" cy="384048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B89F80-48BC-FFBD-DEEF-561C50A4CC36}"/>
              </a:ext>
            </a:extLst>
          </p:cNvPr>
          <p:cNvSpPr/>
          <p:nvPr/>
        </p:nvSpPr>
        <p:spPr>
          <a:xfrm>
            <a:off x="365760" y="859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77658D4-F9A2-E32D-1459-3E2A0267BCF9}"/>
              </a:ext>
            </a:extLst>
          </p:cNvPr>
          <p:cNvSpPr/>
          <p:nvPr/>
        </p:nvSpPr>
        <p:spPr>
          <a:xfrm>
            <a:off x="557784" y="1243584"/>
            <a:ext cx="0" cy="164592"/>
          </a:xfrm>
          <a:prstGeom prst="line">
            <a:avLst/>
          </a:prstGeom>
          <a:noFill/>
          <a:ln w="12700">
            <a:solidFill>
              <a:srgbClr val="E86B2C"/>
            </a:solidFill>
            <a:prstDash val="dot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32DEFF-3054-C977-DD69-002D8C92902F}"/>
              </a:ext>
            </a:extLst>
          </p:cNvPr>
          <p:cNvSpPr/>
          <p:nvPr/>
        </p:nvSpPr>
        <p:spPr>
          <a:xfrm>
            <a:off x="914400" y="82296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generates logs &amp; telemetry data</a:t>
            </a:r>
            <a:endParaRPr lang="en-US" sz="12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9FDF44B-AC0F-5ABD-C7D2-13EBF19786E3}"/>
              </a:ext>
            </a:extLst>
          </p:cNvPr>
          <p:cNvSpPr/>
          <p:nvPr/>
        </p:nvSpPr>
        <p:spPr>
          <a:xfrm>
            <a:off x="365760" y="1399032"/>
            <a:ext cx="384048" cy="384048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B20ABB3-7439-4990-100A-9BF519780F5F}"/>
              </a:ext>
            </a:extLst>
          </p:cNvPr>
          <p:cNvSpPr/>
          <p:nvPr/>
        </p:nvSpPr>
        <p:spPr>
          <a:xfrm>
            <a:off x="365760" y="1399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7C228FF-B4EB-6DF5-BB9C-AB4B847A2B73}"/>
              </a:ext>
            </a:extLst>
          </p:cNvPr>
          <p:cNvSpPr/>
          <p:nvPr/>
        </p:nvSpPr>
        <p:spPr>
          <a:xfrm>
            <a:off x="557784" y="1783080"/>
            <a:ext cx="0" cy="164592"/>
          </a:xfrm>
          <a:prstGeom prst="line">
            <a:avLst/>
          </a:prstGeom>
          <a:noFill/>
          <a:ln w="12700">
            <a:solidFill>
              <a:srgbClr val="E86B2C"/>
            </a:solidFill>
            <a:prstDash val="dot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2979FE7-815C-7ADA-1B1E-97076C827C38}"/>
              </a:ext>
            </a:extLst>
          </p:cNvPr>
          <p:cNvSpPr/>
          <p:nvPr/>
        </p:nvSpPr>
        <p:spPr>
          <a:xfrm>
            <a:off x="914400" y="1362456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OpenTelemetry collects logs, metrics &amp; traces</a:t>
            </a:r>
            <a:endParaRPr lang="en-US" sz="12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1A5EE21-0960-DDA3-D1A5-3D156C9D9735}"/>
              </a:ext>
            </a:extLst>
          </p:cNvPr>
          <p:cNvSpPr/>
          <p:nvPr/>
        </p:nvSpPr>
        <p:spPr>
          <a:xfrm>
            <a:off x="365760" y="1938528"/>
            <a:ext cx="384048" cy="384048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9BFE9B3-2C3A-1EE1-34FF-F4319E17005C}"/>
              </a:ext>
            </a:extLst>
          </p:cNvPr>
          <p:cNvSpPr/>
          <p:nvPr/>
        </p:nvSpPr>
        <p:spPr>
          <a:xfrm>
            <a:off x="365760" y="1938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21B0139-BAEC-BA3E-B2D7-101F16A95636}"/>
              </a:ext>
            </a:extLst>
          </p:cNvPr>
          <p:cNvSpPr/>
          <p:nvPr/>
        </p:nvSpPr>
        <p:spPr>
          <a:xfrm>
            <a:off x="557784" y="2322576"/>
            <a:ext cx="0" cy="164592"/>
          </a:xfrm>
          <a:prstGeom prst="line">
            <a:avLst/>
          </a:prstGeom>
          <a:noFill/>
          <a:ln w="12700">
            <a:solidFill>
              <a:srgbClr val="E86B2C"/>
            </a:solidFill>
            <a:prstDash val="dot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C315D1B-BA93-5515-3B97-1E935D38A207}"/>
              </a:ext>
            </a:extLst>
          </p:cNvPr>
          <p:cNvSpPr/>
          <p:nvPr/>
        </p:nvSpPr>
        <p:spPr>
          <a:xfrm>
            <a:off x="914400" y="190195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stored in Loki (logs), Prometheus (metrics) &amp; Tempo (traces)</a:t>
            </a:r>
            <a:endParaRPr lang="en-US" sz="12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CC908DF-263B-976C-942A-D04532DD3B7C}"/>
              </a:ext>
            </a:extLst>
          </p:cNvPr>
          <p:cNvSpPr/>
          <p:nvPr/>
        </p:nvSpPr>
        <p:spPr>
          <a:xfrm>
            <a:off x="365760" y="2478024"/>
            <a:ext cx="384048" cy="384048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42D957E-2894-6199-6D69-1A1DEB8B7387}"/>
              </a:ext>
            </a:extLst>
          </p:cNvPr>
          <p:cNvSpPr/>
          <p:nvPr/>
        </p:nvSpPr>
        <p:spPr>
          <a:xfrm>
            <a:off x="365760" y="2478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1E4D81E-61DC-B822-57DB-D63CF182DB9D}"/>
              </a:ext>
            </a:extLst>
          </p:cNvPr>
          <p:cNvSpPr/>
          <p:nvPr/>
        </p:nvSpPr>
        <p:spPr>
          <a:xfrm>
            <a:off x="557784" y="2862072"/>
            <a:ext cx="0" cy="164592"/>
          </a:xfrm>
          <a:prstGeom prst="line">
            <a:avLst/>
          </a:prstGeom>
          <a:noFill/>
          <a:ln w="12700">
            <a:solidFill>
              <a:srgbClr val="E86B2C"/>
            </a:solidFill>
            <a:prstDash val="dot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3488C05-2155-52A6-79FA-CE6ED5A51B59}"/>
              </a:ext>
            </a:extLst>
          </p:cNvPr>
          <p:cNvSpPr/>
          <p:nvPr/>
        </p:nvSpPr>
        <p:spPr>
          <a:xfrm>
            <a:off x="914400" y="244144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backend fetches relevant telemetry on alert trigger</a:t>
            </a:r>
            <a:endParaRPr lang="en-US" sz="12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2E00F46-A608-8E7B-BB3C-F6CF2A11B466}"/>
              </a:ext>
            </a:extLst>
          </p:cNvPr>
          <p:cNvSpPr/>
          <p:nvPr/>
        </p:nvSpPr>
        <p:spPr>
          <a:xfrm>
            <a:off x="365760" y="3017520"/>
            <a:ext cx="384048" cy="384048"/>
          </a:xfrm>
          <a:prstGeom prst="ellipse">
            <a:avLst/>
          </a:prstGeom>
          <a:solidFill>
            <a:srgbClr val="C45A1B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BC41E4E-942F-C71F-62A4-1AFF8F6EE113}"/>
              </a:ext>
            </a:extLst>
          </p:cNvPr>
          <p:cNvSpPr/>
          <p:nvPr/>
        </p:nvSpPr>
        <p:spPr>
          <a:xfrm>
            <a:off x="36576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EB002CA-D3E6-AFC3-C841-8C9003E0DD84}"/>
              </a:ext>
            </a:extLst>
          </p:cNvPr>
          <p:cNvSpPr/>
          <p:nvPr/>
        </p:nvSpPr>
        <p:spPr>
          <a:xfrm>
            <a:off x="557784" y="3401568"/>
            <a:ext cx="0" cy="164592"/>
          </a:xfrm>
          <a:prstGeom prst="line">
            <a:avLst/>
          </a:prstGeom>
          <a:noFill/>
          <a:ln w="12700">
            <a:solidFill>
              <a:srgbClr val="E86B2C"/>
            </a:solidFill>
            <a:prstDash val="dot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F07728D-57AD-FA9D-65F6-03FE0F01AD24}"/>
              </a:ext>
            </a:extLst>
          </p:cNvPr>
          <p:cNvSpPr/>
          <p:nvPr/>
        </p:nvSpPr>
        <p:spPr>
          <a:xfrm>
            <a:off x="914400" y="2980944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Telemetry converted into structured prompts</a:t>
            </a:r>
            <a:endParaRPr lang="en-US" sz="12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62E6171-F176-5E57-BD7D-932C3501977E}"/>
              </a:ext>
            </a:extLst>
          </p:cNvPr>
          <p:cNvSpPr/>
          <p:nvPr/>
        </p:nvSpPr>
        <p:spPr>
          <a:xfrm>
            <a:off x="365760" y="3557016"/>
            <a:ext cx="384048" cy="384048"/>
          </a:xfrm>
          <a:prstGeom prst="ellipse">
            <a:avLst/>
          </a:prstGeom>
          <a:solidFill>
            <a:srgbClr val="C45A1B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466D1B8-AFF5-BF1A-2688-65854F52F9BB}"/>
              </a:ext>
            </a:extLst>
          </p:cNvPr>
          <p:cNvSpPr/>
          <p:nvPr/>
        </p:nvSpPr>
        <p:spPr>
          <a:xfrm>
            <a:off x="365760" y="3557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B200E53-871B-5BF6-7AFA-DFF222D35CE0}"/>
              </a:ext>
            </a:extLst>
          </p:cNvPr>
          <p:cNvSpPr/>
          <p:nvPr/>
        </p:nvSpPr>
        <p:spPr>
          <a:xfrm>
            <a:off x="557784" y="3941064"/>
            <a:ext cx="0" cy="164592"/>
          </a:xfrm>
          <a:prstGeom prst="line">
            <a:avLst/>
          </a:prstGeom>
          <a:noFill/>
          <a:ln w="12700">
            <a:solidFill>
              <a:srgbClr val="E86B2C"/>
            </a:solidFill>
            <a:prstDash val="dot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6C14C95-AD33-2FF8-085A-1122E009A302}"/>
              </a:ext>
            </a:extLst>
          </p:cNvPr>
          <p:cNvSpPr/>
          <p:nvPr/>
        </p:nvSpPr>
        <p:spPr>
          <a:xfrm>
            <a:off x="914400" y="352044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Prompts sent to the AI / LLM model for analysis</a:t>
            </a:r>
            <a:endParaRPr lang="en-US" sz="12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9F67C41-9A89-F6C0-2704-D3F990B3340D}"/>
              </a:ext>
            </a:extLst>
          </p:cNvPr>
          <p:cNvSpPr/>
          <p:nvPr/>
        </p:nvSpPr>
        <p:spPr>
          <a:xfrm>
            <a:off x="365760" y="4096512"/>
            <a:ext cx="384048" cy="384048"/>
          </a:xfrm>
          <a:prstGeom prst="ellipse">
            <a:avLst/>
          </a:prstGeom>
          <a:solidFill>
            <a:srgbClr val="C45A1B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80262C1-5EFE-1C06-4A1A-205E12F79696}"/>
              </a:ext>
            </a:extLst>
          </p:cNvPr>
          <p:cNvSpPr/>
          <p:nvPr/>
        </p:nvSpPr>
        <p:spPr>
          <a:xfrm>
            <a:off x="36576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CD337E1-6922-10FF-2B91-436124D924F3}"/>
              </a:ext>
            </a:extLst>
          </p:cNvPr>
          <p:cNvSpPr/>
          <p:nvPr/>
        </p:nvSpPr>
        <p:spPr>
          <a:xfrm>
            <a:off x="557784" y="4480560"/>
            <a:ext cx="0" cy="164592"/>
          </a:xfrm>
          <a:prstGeom prst="line">
            <a:avLst/>
          </a:prstGeom>
          <a:noFill/>
          <a:ln w="12700">
            <a:solidFill>
              <a:srgbClr val="E86B2C"/>
            </a:solidFill>
            <a:prstDash val="dot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A905708-1EA2-A74B-E747-31238D5CABC2}"/>
              </a:ext>
            </a:extLst>
          </p:cNvPr>
          <p:cNvSpPr/>
          <p:nvPr/>
        </p:nvSpPr>
        <p:spPr>
          <a:xfrm>
            <a:off x="914400" y="4059936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generates ranked root cause analysis with confidence scores</a:t>
            </a:r>
            <a:endParaRPr lang="en-US" sz="12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A813FBAB-2965-BB8B-1085-B2B22084325F}"/>
              </a:ext>
            </a:extLst>
          </p:cNvPr>
          <p:cNvSpPr/>
          <p:nvPr/>
        </p:nvSpPr>
        <p:spPr>
          <a:xfrm>
            <a:off x="365760" y="4636008"/>
            <a:ext cx="384048" cy="384048"/>
          </a:xfrm>
          <a:prstGeom prst="ellipse">
            <a:avLst/>
          </a:prstGeom>
          <a:solidFill>
            <a:srgbClr val="C45A1B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FF67EB1-CDE1-1277-321C-B3A518774CDC}"/>
              </a:ext>
            </a:extLst>
          </p:cNvPr>
          <p:cNvSpPr/>
          <p:nvPr/>
        </p:nvSpPr>
        <p:spPr>
          <a:xfrm>
            <a:off x="365760" y="4636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7E582D3-52E7-FF9E-E163-ECCD66DCE3AF}"/>
              </a:ext>
            </a:extLst>
          </p:cNvPr>
          <p:cNvSpPr/>
          <p:nvPr/>
        </p:nvSpPr>
        <p:spPr>
          <a:xfrm>
            <a:off x="914400" y="459943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returned as structured Incident Brief to on-call engineer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012139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493776"/>
          </a:xfrm>
          <a:prstGeom prst="rect">
            <a:avLst/>
          </a:prstGeom>
          <a:solidFill>
            <a:srgbClr val="FFF8F3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54864" cy="493776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3268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Programming Language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97680" y="93268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6B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362456"/>
            <a:ext cx="8229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62456"/>
            <a:ext cx="54864" cy="493776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5389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Framework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97680" y="1453896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6B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8229600" cy="493776"/>
          </a:xfrm>
          <a:prstGeom prst="rect">
            <a:avLst/>
          </a:prstGeom>
          <a:solidFill>
            <a:srgbClr val="FFF8F3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83664"/>
            <a:ext cx="54864" cy="493776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9751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Containerization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297680" y="197510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6B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Docker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404872"/>
            <a:ext cx="8229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04872"/>
            <a:ext cx="54864" cy="493776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49631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97680" y="249631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6B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Loki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493776"/>
          </a:xfrm>
          <a:prstGeom prst="rect">
            <a:avLst/>
          </a:prstGeom>
          <a:solidFill>
            <a:srgbClr val="FFF8F3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26080"/>
            <a:ext cx="54864" cy="493776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01752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297680" y="30175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6B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Prometheus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447288"/>
            <a:ext cx="8229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47288"/>
            <a:ext cx="54864" cy="493776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5387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297680" y="353872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6B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3968496"/>
            <a:ext cx="8229600" cy="493776"/>
          </a:xfrm>
          <a:prstGeom prst="rect">
            <a:avLst/>
          </a:prstGeom>
          <a:solidFill>
            <a:srgbClr val="FFF8F3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968496"/>
            <a:ext cx="54864" cy="493776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5993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Telemetry Collection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297680" y="4059936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6B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OpenTelemetry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7200" y="4489704"/>
            <a:ext cx="8229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489704"/>
            <a:ext cx="54864" cy="493776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58114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Model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297680" y="458114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/>
              <a:t> </a:t>
            </a:r>
            <a:r>
              <a:rPr lang="en-US" sz="1250" dirty="0">
                <a:solidFill>
                  <a:srgbClr val="E86B2C"/>
                </a:solidFill>
                <a:latin typeface="Times New Roman" pitchFamily="34" charset="0"/>
                <a:cs typeface="Times New Roman" pitchFamily="34" charset="-120"/>
              </a:rPr>
              <a:t>GPT-5</a:t>
            </a:r>
            <a:r>
              <a:rPr lang="en-US" sz="1250" dirty="0"/>
              <a:t> </a:t>
            </a:r>
            <a:r>
              <a:rPr lang="en-US" sz="1250" dirty="0">
                <a:solidFill>
                  <a:srgbClr val="E86B2C"/>
                </a:solidFill>
                <a:latin typeface="Times New Roman" pitchFamily="34" charset="0"/>
                <a:cs typeface="Times New Roman" pitchFamily="34" charset="-120"/>
              </a:rPr>
              <a:t>mini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Output — Case 1: Normal Operation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B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everything is working fine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6366"/>
            <a:ext cx="2829560" cy="16348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-185420" y="3996097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IIRS Incident Brief — Transient high-latency trace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14410" b="6373"/>
          <a:stretch>
            <a:fillRect/>
          </a:stretch>
        </p:blipFill>
        <p:spPr>
          <a:xfrm>
            <a:off x="5159586" y="2486914"/>
            <a:ext cx="3122507" cy="14291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3938947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AspireShop Product Catalog — Running normally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28600" y="4430437"/>
            <a:ext cx="8503920" cy="502920"/>
          </a:xfrm>
          <a:prstGeom prst="rect">
            <a:avLst/>
          </a:prstGeom>
          <a:solidFill>
            <a:srgbClr val="FDE9D9"/>
          </a:solidFill>
          <a:ln w="10160">
            <a:solidFill>
              <a:srgbClr val="E86B2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4476157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45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 No clear live fault detected (confidence 0.70) — System confirmed healthy, no remediation needed</a:t>
            </a:r>
            <a:endParaRPr lang="en-US" sz="11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5"/>
          <a:srcRect t="14143" b="5303"/>
          <a:stretch>
            <a:fillRect/>
          </a:stretch>
        </p:blipFill>
        <p:spPr>
          <a:xfrm>
            <a:off x="2850727" y="786352"/>
            <a:ext cx="4114800" cy="1510004"/>
          </a:xfrm>
          <a:prstGeom prst="rect">
            <a:avLst/>
          </a:prstGeom>
        </p:spPr>
      </p:pic>
      <p:pic>
        <p:nvPicPr>
          <p:cNvPr id="12" name="Picture 11" descr="healthy-resu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Output — Case 2: Service Failure Detected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B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catalog service is stopped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20040" y="29992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Before: All 8 services running (AspireShop)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97280"/>
            <a:ext cx="4114800" cy="1874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29992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After: catalogservice — Finished (stopped)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4267" y="3310128"/>
            <a:ext cx="4511040" cy="13716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FDE9D9"/>
          </a:solidFill>
          <a:ln w="10160">
            <a:solidFill>
              <a:srgbClr val="E86B2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5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IIRS correctly identified: catalogservice unavailable (confidence 0.87)</a:t>
            </a:r>
            <a:endParaRPr lang="en-US" sz="11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2C35E9DC-6967-40E2-2DDA-1F7C2879B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097280"/>
            <a:ext cx="4114800" cy="1874520"/>
          </a:xfrm>
          <a:prstGeom prst="rect">
            <a:avLst/>
          </a:prstGeom>
        </p:spPr>
      </p:pic>
      <p:pic>
        <p:nvPicPr>
          <p:cNvPr id="13" name="Picture 12" descr="failure-resu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B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14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237744" cy="237744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0759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Automates root cause detection via multi-agent AI architecture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114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03120"/>
            <a:ext cx="237744" cy="237744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574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Reduces mean time to triage for on-call engineers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4114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52928"/>
            <a:ext cx="237744" cy="237744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07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Evidence-grounded reasoning ensures auditability and trust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511296"/>
            <a:ext cx="4114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602736"/>
            <a:ext cx="237744" cy="237744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5701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 by design — read-only diagnostics, human approval for actions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261104"/>
            <a:ext cx="4114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352544"/>
            <a:ext cx="237744" cy="237744"/>
          </a:xfrm>
          <a:prstGeom prst="ellipse">
            <a:avLst/>
          </a:prstGeom>
          <a:solidFill>
            <a:srgbClr val="E86B2C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30682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Demonstrates AI integration with modern observability stacks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804672"/>
            <a:ext cx="4023360" cy="4114800"/>
          </a:xfrm>
          <a:prstGeom prst="rect">
            <a:avLst/>
          </a:prstGeom>
          <a:solidFill>
            <a:srgbClr val="FDE9D9"/>
          </a:solidFill>
          <a:ln w="12700">
            <a:solidFill>
              <a:srgbClr val="E86B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5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937760" y="1417320"/>
            <a:ext cx="3566160" cy="0"/>
          </a:xfrm>
          <a:prstGeom prst="line">
            <a:avLst/>
          </a:prstGeom>
          <a:noFill/>
          <a:ln w="6350">
            <a:solidFill>
              <a:srgbClr val="E86B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1527048"/>
            <a:ext cx="201168" cy="201168"/>
          </a:xfrm>
          <a:prstGeom prst="ellipse">
            <a:avLst/>
          </a:prstGeom>
          <a:solidFill>
            <a:srgbClr val="C45A1B"/>
          </a:solidFill>
          <a:ln w="12700">
            <a:solidFill>
              <a:srgbClr val="C45A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147218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remediation with approval workflows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37760" y="2258568"/>
            <a:ext cx="3566160" cy="0"/>
          </a:xfrm>
          <a:prstGeom prst="line">
            <a:avLst/>
          </a:prstGeom>
          <a:noFill/>
          <a:ln w="6350">
            <a:solidFill>
              <a:srgbClr val="E86B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368296"/>
            <a:ext cx="201168" cy="201168"/>
          </a:xfrm>
          <a:prstGeom prst="ellipse">
            <a:avLst/>
          </a:prstGeom>
          <a:solidFill>
            <a:srgbClr val="C45A1B"/>
          </a:solidFill>
          <a:ln w="12700">
            <a:solidFill>
              <a:srgbClr val="C45A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231343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with CI/CD for deployment-correlated RCA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937760" y="3099816"/>
            <a:ext cx="3566160" cy="0"/>
          </a:xfrm>
          <a:prstGeom prst="line">
            <a:avLst/>
          </a:prstGeom>
          <a:noFill/>
          <a:ln w="6350">
            <a:solidFill>
              <a:srgbClr val="E86B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3209544"/>
            <a:ext cx="201168" cy="201168"/>
          </a:xfrm>
          <a:prstGeom prst="ellipse">
            <a:avLst/>
          </a:prstGeom>
          <a:solidFill>
            <a:srgbClr val="C45A1B"/>
          </a:solidFill>
          <a:ln w="12700">
            <a:solidFill>
              <a:srgbClr val="C45A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0368" y="315468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alert scoring and incident priority ranking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37760" y="3941064"/>
            <a:ext cx="3566160" cy="0"/>
          </a:xfrm>
          <a:prstGeom prst="line">
            <a:avLst/>
          </a:prstGeom>
          <a:noFill/>
          <a:ln w="6350">
            <a:solidFill>
              <a:srgbClr val="E86B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4050792"/>
            <a:ext cx="201168" cy="201168"/>
          </a:xfrm>
          <a:prstGeom prst="ellipse">
            <a:avLst/>
          </a:prstGeom>
          <a:solidFill>
            <a:srgbClr val="C45A1B"/>
          </a:solidFill>
          <a:ln w="12700">
            <a:solidFill>
              <a:srgbClr val="C45A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399592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for custom runbook ingestion &amp; knowledge base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569</Words>
  <Application>Microsoft Office PowerPoint</Application>
  <PresentationFormat>On-screen Show (16:9)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Intelligent Incident Response System (IIRS)</dc:title>
  <dc:subject>PptxGenJS Presentation</dc:subject>
  <dc:creator>PptxGenJS</dc:creator>
  <cp:lastModifiedBy>rashmi k r</cp:lastModifiedBy>
  <cp:revision>5</cp:revision>
  <dcterms:created xsi:type="dcterms:W3CDTF">2026-04-26T13:36:37Z</dcterms:created>
  <dcterms:modified xsi:type="dcterms:W3CDTF">2026-04-26T17:21:39Z</dcterms:modified>
</cp:coreProperties>
</file>